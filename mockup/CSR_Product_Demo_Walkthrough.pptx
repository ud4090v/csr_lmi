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e0e98e67-deb4-2f20-8fb3-176b1bfe2524}">
          <p14:sldIdLst>
            <p14:sldId id="256"/>
            <p14:sldId id="257"/>
            <p14:sldId id="258"/>
          </p14:sldIdLst>
        </p14:section>
        <p14:section name="Application Walkthrough" id="{9a9a4ec5-2d87-e8ac-eef7-f7cd8f8f0cfc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How You Will Use It" id="{c3780df6-375d-ec7c-8616-73e71ba54f82}">
          <p14:sldIdLst>
            <p14:sldId id="266"/>
            <p14:sldId id="267"/>
          </p14:sldIdLst>
        </p14:section>
        <p14:section name="Guided Tour &amp; Next Steps" id="{485c3550-0063-25b3-1604-9f0052f5955e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Today: a working demonstration of the CSR Auditing Application — the replacement for the Excel/SharePoint quarterly checklist process. Everything shown is interactive; the content on screen is your own 2021-3Q checklist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pain from the requirements meeting, and what replaces it. These six are the demo's storyline.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roles, one lifecycle. The three principles at the bottom are the compliance guarantees — worth saying out loud before showing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analyst's home. Point out: due dates and progress visible without opening anything — this is the end of checking spreadsheets one by one. Click the In Progress row to open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heart of the application. The card IS the template row — green response cell, yellow attachment cell, same colors analysts already know. Requirement texts are word-for-word from the 2021-3Q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beat 1: click Sign &amp; Submit with two procedures still open — the itemized panel appears. Click an entry, it scrolls to the card. Fill it, submit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green banner is the signature: who, and exactly when, server time. Status is Submitted; everything is read-only. This record is now on its way to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beat 2. The AI has read the submission against the requirements: it caught a sample-size miss. The reviewer decides — return with notes, or complete. Show the return loop: notes are mandatory, the analyst sees them in a banner.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Ray's screen. The matrix is the whole quarter; generation and reassignment are single actions instead of file-copying rituals.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yearly 'new template' exercise becomes: copy, edit the draft, release with a date. Version 0001 stays frozen forever — that's the audit guarantee.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analyst never learns 'an application' — they follow the checklist exactly as before, with the template's own colors, plus autosave and a safety net at submit.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rhythms: the reviewer's quarterly pass with AI triage, and the admin's quarter-generation plus the annual catalog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anyone who wants to explore after the meeting: same demo, add ?guide=1 to the address — the app walks them through itself. No instructions document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ask: design acceptance, the Market Segment templates, and a pilot group. The backend being live means acceptance converts to working software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A4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ECD"/>
                </a:solidFill>
              </a:rPr>
              <a:t>CSR Auditing Application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3A4A5A"/>
                </a:solidFill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rgbClr val="3A4A5A"/>
                </a:solidFill>
              </a:rPr>
              <a:t>Title</a:t>
            </a: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9E"/>
                </a:solidFill>
              </a:rPr>
              <a:t>CSR Auditing Application — Product Demo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5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5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CSR Auditing Application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Product Demo &amp; Application Walkthrough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ECD"/>
                </a:solidFill>
              </a:rPr>
              <a:t>Functional MVP demonstration — quarterly CSR &amp; Quarter Close checklists, governed end to end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2E3B49"/>
          </a:solidFill>
          <a:ln w="6350">
            <a:solidFill>
              <a:srgbClr val="AEBEC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4709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Interactive demo —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illustrative data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577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ECD"/>
                </a:solidFill>
              </a:rPr>
              <a:t>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3A4A5A"/>
                </a:solidFill>
              </a:rPr>
              <a:t>From spreadsheets to a governed workflow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1414"/>
                </a:solidFill>
              </a:rPr>
              <a:t>Today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1051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8918"/>
                </a:solidFill>
              </a:rPr>
              <a:t>With the CSR Auditing Application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DF2F2"/>
          </a:solidFill>
          <a:ln w="9525">
            <a:solidFill>
              <a:srgbClr val="E8C8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81328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Chasing checklists by e-mail, opening each file to see progress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961888" y="1481328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59E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481328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0F9F0"/>
          </a:solidFill>
          <a:ln w="9525">
            <a:solidFill>
              <a:srgbClr val="B5D6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481328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One worklist: status, due dates and progress for every checklist, live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22576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DF2F2"/>
          </a:solidFill>
          <a:ln w="9525">
            <a:solidFill>
              <a:srgbClr val="E8C8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322576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Incomplete checklists discovered at review time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961888" y="2322576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59E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2322576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0F9F0"/>
          </a:solidFill>
          <a:ln w="9525">
            <a:solidFill>
              <a:srgbClr val="B5D6B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2322576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Submission is blocked until every requirement is met — itemized, fixable on the spot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163824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DF2F2"/>
          </a:solidFill>
          <a:ln w="9525">
            <a:solidFill>
              <a:srgbClr val="E8C8C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163824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Sign-off via spreadsheet macro and screenshots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961888" y="3163824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59E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3163824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0F9F0"/>
          </a:solidFill>
          <a:ln w="9525">
            <a:solidFill>
              <a:srgbClr val="B5D6B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3163824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Electronic signature with server timestamp; the record locks permanently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005072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DF2F2"/>
          </a:solidFill>
          <a:ln w="9525">
            <a:solidFill>
              <a:srgbClr val="E8C8C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005072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Evidence scattered across SharePoint folders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961888" y="4005072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59E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4005072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0F9F0"/>
          </a:solidFill>
          <a:ln w="9525">
            <a:solidFill>
              <a:srgbClr val="B5D6B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4005072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Files attach to the exact procedure they prove — exportable for Canvas / Optro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84632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DF2F2"/>
          </a:solidFill>
          <a:ln w="9525">
            <a:solidFill>
              <a:srgbClr val="E8C8C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84632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Every submission read manually, cold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961888" y="48463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59E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09360" y="484632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0F9F0"/>
          </a:solidFill>
          <a:ln w="9525">
            <a:solidFill>
              <a:srgbClr val="B5D6B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92240" y="484632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AI pre-review flags weak responses for the reviewer — advisory, never blocking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687568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DF2F2"/>
          </a:solidFill>
          <a:ln w="9525">
            <a:solidFill>
              <a:srgbClr val="E8C8C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5687568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Annual question update = a new spreadsheet template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961888" y="5687568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59E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09360" y="5687568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0F9F0"/>
          </a:solidFill>
          <a:ln w="9525">
            <a:solidFill>
              <a:srgbClr val="B5D6B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92240" y="5687568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Versioned question catalog with a governed draft-and-release cycle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5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3A4A5A"/>
                </a:solidFill>
              </a:rPr>
              <a:t>The application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FF1F2"/>
          </a:solidFill>
          <a:ln w="9525">
            <a:solidFill>
              <a:srgbClr val="D5DAD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216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1414"/>
                </a:solidFill>
              </a:rPr>
              <a:t>Analyst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15559"/>
                </a:solidFill>
              </a:rPr>
              <a:t>Completes assigned checklists, attaches evidence, signs &amp; submits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01568" y="109728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FF1F2"/>
          </a:solidFill>
          <a:ln w="9525">
            <a:solidFill>
              <a:srgbClr val="D5DA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216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1414"/>
                </a:solidFill>
              </a:rPr>
              <a:t>Reviewer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55448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15559"/>
                </a:solidFill>
              </a:rPr>
              <a:t>Reviews submissions with AI support; returns or completes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54496" y="109728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FF1F2"/>
          </a:solidFill>
          <a:ln w="9525">
            <a:solidFill>
              <a:srgbClr val="D5DA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9088" y="1216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1414"/>
                </a:solidFill>
              </a:rPr>
              <a:t>Administrator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19088" y="155448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15559"/>
                </a:solidFill>
              </a:rPr>
              <a:t>Generates each quarter, reassigns, maintains the question catalog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07424" y="109728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FF1F2"/>
          </a:solidFill>
          <a:ln w="9525">
            <a:solidFill>
              <a:srgbClr val="D5DA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72016" y="1216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1414"/>
                </a:solidFill>
              </a:rPr>
              <a:t>Auditor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272016" y="155448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15559"/>
                </a:solidFill>
              </a:rPr>
              <a:t>Read-only access to completed, locked records and evidence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788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Checklist lifecycle — status can only move along these paths, enforced by the server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EFF1F2"/>
          </a:solidFill>
          <a:ln w="9525">
            <a:solidFill>
              <a:srgbClr val="D5DA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246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15559"/>
                </a:solidFill>
              </a:rPr>
              <a:t>Not Started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487168" y="324612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59E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889504" y="32461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FFF3E0"/>
          </a:solidFill>
          <a:ln w="9525">
            <a:solidFill>
              <a:srgbClr val="D5DA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89504" y="3246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5700"/>
                </a:solidFill>
              </a:rPr>
              <a:t>In Progress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28032" y="324612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59E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30368" y="32461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E8F0FE"/>
          </a:solidFill>
          <a:ln w="9525">
            <a:solidFill>
              <a:srgbClr val="D5DAD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30368" y="3246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7D2"/>
                </a:solidFill>
              </a:rPr>
              <a:t>Submitted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68896" y="324612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59E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71232" y="32461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E8F0FE"/>
          </a:solidFill>
          <a:ln w="9525">
            <a:solidFill>
              <a:srgbClr val="D5DAD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71232" y="3246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7D2"/>
                </a:solidFill>
              </a:rPr>
              <a:t>Under Review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509760" y="324612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59E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912096" y="32461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F0F9F0"/>
          </a:solidFill>
          <a:ln w="9525">
            <a:solidFill>
              <a:srgbClr val="D5DAD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12096" y="3246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8918"/>
                </a:solidFill>
              </a:rPr>
              <a:t>Completed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230368" y="397764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 w="9525">
            <a:solidFill>
              <a:srgbClr val="F0ABA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230368" y="3977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20A0A"/>
                </a:solidFill>
              </a:rPr>
              <a:t>Returned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269480" y="3977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15559"/>
                </a:solidFill>
              </a:rPr>
              <a:t>← back to the analyst with mandatory notes — fixed and resubmitted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892040"/>
            <a:ext cx="36393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6E141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5029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1414"/>
                </a:solidFill>
              </a:rPr>
              <a:t>Signed &amp; locked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537667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5559"/>
                </a:solidFill>
              </a:rPr>
              <a:t>Submission = electronic signature (user + server timestamp). Completed checklists are immutable audit records.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370832" y="4892040"/>
            <a:ext cx="36393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6E141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53712" y="5029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1414"/>
                </a:solidFill>
              </a:rPr>
              <a:t>Versioned questions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553712" y="537667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5559"/>
                </a:solidFill>
              </a:rPr>
              <a:t>Each quarter binds a released catalog version — history stays answerable against exactly the questions asked.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193024" y="4892040"/>
            <a:ext cx="36393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6E141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75904" y="5029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1414"/>
                </a:solidFill>
              </a:rPr>
              <a:t>AI is advisory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375904" y="537667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5559"/>
                </a:solidFill>
              </a:rPr>
              <a:t>Flags direct reviewer attention. Nothing is auto-approved; nothing is ever blocked by AI.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5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3A4A5A"/>
                </a:solidFill>
              </a:rPr>
              <a:t>Worklist — every checklist, one screen</a:t>
            </a:r>
            <a:endParaRPr lang="en-US" sz="3000" dirty="0"/>
          </a:p>
        </p:txBody>
      </p:sp>
      <p:pic>
        <p:nvPicPr>
          <p:cNvPr id="3" name="Application screenshot" descr="/home/claude/shots/crop-01-work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188720"/>
            <a:ext cx="7589520" cy="339947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3A4A5A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4069080" y="1188720"/>
            <a:ext cx="7589520" cy="3399473"/>
          </a:xfrm>
          <a:prstGeom prst="rect">
            <a:avLst/>
          </a:prstGeom>
          <a:ln w="9525">
            <a:solidFill>
              <a:srgbClr val="D5DA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362456"/>
            <a:ext cx="256032" cy="256032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75488" y="1316736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1325880"/>
            <a:ext cx="2999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tx2"/>
                </a:solidFill>
              </a:rPr>
              <a:t>Navigation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15559"/>
                </a:solidFill>
              </a:rPr>
              <a:t>work areas by role: Worklist, Review Queue, Admin, Catalog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075688"/>
            <a:ext cx="256032" cy="256032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5488" y="2029968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2039112"/>
            <a:ext cx="2999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tx2"/>
                </a:solidFill>
              </a:rPr>
              <a:t>KPI strip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15559"/>
                </a:solidFill>
              </a:rPr>
              <a:t>open / due this week / submitted / completed — live counts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788920"/>
            <a:ext cx="256032" cy="256032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5488" y="274320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" y="2752344"/>
            <a:ext cx="2999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tx2"/>
                </a:solidFill>
              </a:rPr>
              <a:t>Filters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15559"/>
                </a:solidFill>
              </a:rPr>
              <a:t>LOB → Market Segment (cascading) and status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502152"/>
            <a:ext cx="256032" cy="256032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488" y="3456432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32688" y="3465576"/>
            <a:ext cx="2999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tx2"/>
                </a:solidFill>
              </a:rPr>
              <a:t>Checklist rows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15559"/>
                </a:solidFill>
              </a:rPr>
              <a:t>type, scope, period, analyst, due date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215384"/>
            <a:ext cx="256032" cy="256032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5488" y="4169664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32688" y="4178808"/>
            <a:ext cx="2999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tx2"/>
                </a:solidFill>
              </a:rPr>
              <a:t>Progress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15559"/>
                </a:solidFill>
              </a:rPr>
              <a:t>completion per checklist, computed from its procedures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928616"/>
            <a:ext cx="256032" cy="256032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488" y="4882896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932688" y="4892040"/>
            <a:ext cx="2999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tx2"/>
                </a:solidFill>
              </a:rPr>
              <a:t>AI flags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15559"/>
                </a:solidFill>
              </a:rPr>
              <a:t>advisory findings already waiting for the reviewer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5641848"/>
            <a:ext cx="256032" cy="256032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75488" y="5596128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32688" y="5605272"/>
            <a:ext cx="2999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tx2"/>
                </a:solidFill>
              </a:rPr>
              <a:t>Status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15559"/>
                </a:solidFill>
              </a:rPr>
              <a:t>always text + color — the five lifecycle states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256133" y="1162241"/>
            <a:ext cx="274320" cy="274320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182981" y="1116521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722495" y="1901428"/>
            <a:ext cx="274320" cy="274320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649343" y="1855708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722495" y="2324386"/>
            <a:ext cx="274320" cy="274320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649343" y="2278666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722495" y="2636663"/>
            <a:ext cx="274320" cy="274320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649343" y="2590943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793956" y="2522030"/>
            <a:ext cx="274320" cy="274320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20804" y="247631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9426416" y="2522030"/>
            <a:ext cx="274320" cy="274320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353264" y="247631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9999583" y="2522030"/>
            <a:ext cx="274320" cy="274320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926431" y="247631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5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3A4A5A"/>
                </a:solidFill>
              </a:rPr>
              <a:t>Checklist detail — the procedure card</a:t>
            </a:r>
            <a:endParaRPr lang="en-US" sz="3000" dirty="0"/>
          </a:p>
        </p:txBody>
      </p:sp>
      <p:pic>
        <p:nvPicPr>
          <p:cNvPr id="3" name="Application screenshot" descr="/home/claude/shots/crop-05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8832" y="1143000"/>
            <a:ext cx="9347200" cy="52578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3A4A5A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2338832" y="1143000"/>
            <a:ext cx="9347200" cy="5257800"/>
          </a:xfrm>
          <a:prstGeom prst="rect">
            <a:avLst/>
          </a:prstGeom>
          <a:ln w="9525">
            <a:solidFill>
              <a:srgbClr val="D5DA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362456"/>
            <a:ext cx="256032" cy="256032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75488" y="1316736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132588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tx2"/>
                </a:solidFill>
              </a:rPr>
              <a:t>Header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15559"/>
                </a:solidFill>
              </a:rPr>
              <a:t>scope, period, analyst, due date, bound catalog version, progress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093976"/>
            <a:ext cx="256032" cy="256032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5488" y="2048256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205740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tx2"/>
                </a:solidFill>
              </a:rPr>
              <a:t>Instructions / Notes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15559"/>
                </a:solidFill>
              </a:rPr>
              <a:t>the template's guidance — expanded on first open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825496"/>
            <a:ext cx="256032" cy="256032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5488" y="2779776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" y="278892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tx2"/>
                </a:solidFill>
              </a:rPr>
              <a:t>Procedure card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15559"/>
                </a:solidFill>
              </a:rPr>
              <a:t>one per audit procedure, numbered, with completion state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557016"/>
            <a:ext cx="256032" cy="256032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488" y="3511296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32688" y="352044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tx2"/>
                </a:solidFill>
              </a:rPr>
              <a:t>Requirement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15559"/>
                </a:solidFill>
              </a:rPr>
              <a:t>full template text, collapsed to 3 lines — “Show more” expands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256032" cy="256032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5488" y="4242816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32688" y="425196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tx2"/>
                </a:solidFill>
              </a:rPr>
              <a:t>Worked example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15559"/>
                </a:solidFill>
              </a:rPr>
              <a:t>the template's example column, one click away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020056"/>
            <a:ext cx="256032" cy="256032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488" y="4974336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932688" y="498348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tx2"/>
                </a:solidFill>
              </a:rPr>
              <a:t>Response (green)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15559"/>
                </a:solidFill>
              </a:rPr>
              <a:t>“Description of Procedures Performed” — autosaves as you type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5751576"/>
            <a:ext cx="256032" cy="256032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75488" y="5705856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32688" y="571500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tx2"/>
                </a:solidFill>
              </a:rPr>
              <a:t>Evidence (yellow)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15559"/>
                </a:solidFill>
              </a:rPr>
              <a:t>files attached to this exact procedure; “Required” vs “Optional”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175339" y="1784773"/>
            <a:ext cx="274320" cy="274320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102187" y="1739053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175339" y="2305685"/>
            <a:ext cx="274320" cy="274320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102187" y="2259965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175339" y="2612390"/>
            <a:ext cx="274320" cy="274320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102187" y="256667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3175339" y="3050540"/>
            <a:ext cx="274320" cy="274320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102187" y="300482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3175339" y="3527637"/>
            <a:ext cx="274320" cy="274320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102187" y="3481917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3175339" y="3926840"/>
            <a:ext cx="274320" cy="274320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102187" y="388112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3175339" y="4535382"/>
            <a:ext cx="274320" cy="274320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102187" y="448966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5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3A4A5A"/>
                </a:solidFill>
              </a:rPr>
              <a:t>Nothing incomplete gets through</a:t>
            </a:r>
            <a:endParaRPr lang="en-US" sz="3000" dirty="0"/>
          </a:p>
        </p:txBody>
      </p:sp>
      <p:pic>
        <p:nvPicPr>
          <p:cNvPr id="3" name="Application screenshot" descr="/home/claude/shots/crop-07-blocked-subm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8412480" cy="332994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3A4A5A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48640" y="1234440"/>
            <a:ext cx="8412480" cy="3329940"/>
          </a:xfrm>
          <a:prstGeom prst="rect">
            <a:avLst/>
          </a:prstGeom>
          <a:ln w="9525">
            <a:solidFill>
              <a:srgbClr val="D5DA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235440" y="1234440"/>
            <a:ext cx="2423160" cy="3291840"/>
          </a:xfrm>
          <a:prstGeom prst="roundRect">
            <a:avLst>
              <a:gd name="adj" fmla="val 3019"/>
            </a:avLst>
          </a:prstGeom>
          <a:solidFill>
            <a:srgbClr val="EFF1F2"/>
          </a:solidFill>
          <a:ln w="9525">
            <a:solidFill>
              <a:srgbClr val="D5DAD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418320" y="1417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Sign &amp; Submit validates everything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418320" y="210312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15559"/>
                </a:solidFill>
              </a:rPr>
              <a:t>Every unmet requirement listed at once — not one at a time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15559"/>
                </a:solidFill>
              </a:rPr>
              <a:t>Each entry clicks through to its procedure card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15559"/>
                </a:solidFill>
              </a:rPr>
              <a:t>A response, a permitted N/A, or required evidence clears it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15559"/>
                </a:solidFill>
              </a:rPr>
              <a:t>The server enforces the same rules — the UI can never bypass them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8463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E1414"/>
                </a:solidFill>
              </a:rPr>
              <a:t>The pain this kills: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15559"/>
                </a:solidFill>
              </a:rPr>
              <a:t>incomplete checklists discovered at review time. Here they are caught at the moment of submission, with the fix one click away.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5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3A4A5A"/>
                </a:solidFill>
              </a:rPr>
              <a:t>Signed, time-stamped, locked</a:t>
            </a:r>
            <a:endParaRPr lang="en-US" sz="3000" dirty="0"/>
          </a:p>
        </p:txBody>
      </p:sp>
      <p:pic>
        <p:nvPicPr>
          <p:cNvPr id="3" name="Application screenshot" descr="/home/claude/shots/crop-15-signed-lo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8412480" cy="35052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3A4A5A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48640" y="1234440"/>
            <a:ext cx="8412480" cy="3505200"/>
          </a:xfrm>
          <a:prstGeom prst="rect">
            <a:avLst/>
          </a:prstGeom>
          <a:ln w="9525">
            <a:solidFill>
              <a:srgbClr val="D5DA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235440" y="123444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0F9F0"/>
          </a:solidFill>
          <a:ln w="9525">
            <a:solidFill>
              <a:srgbClr val="B5D6B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400032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8918"/>
                </a:solidFill>
              </a:rPr>
              <a:t>Electronic signature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9400032" y="1600200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15559"/>
                </a:solidFill>
              </a:rPr>
              <a:t>User + server timestamp recorded at submission — replaces the spreadsheet signing macro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9235440" y="2423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0F9F0"/>
          </a:solidFill>
          <a:ln w="9525">
            <a:solidFill>
              <a:srgbClr val="B5D6B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400032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8918"/>
                </a:solidFill>
              </a:rPr>
              <a:t>Form locks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9400032" y="2788920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15559"/>
                </a:solidFill>
              </a:rPr>
              <a:t>Responses and evidence become read-only the moment it’s signed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9235440" y="361188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0F9F0"/>
          </a:solidFill>
          <a:ln w="9525">
            <a:solidFill>
              <a:srgbClr val="B5D6B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400032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8918"/>
                </a:solidFill>
              </a:rPr>
              <a:t>Audit record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9400032" y="3977640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15559"/>
                </a:solidFill>
              </a:rPr>
              <a:t>Once review completes, the checklist is immutable — the evidence package for Canvas / Optro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5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3A4A5A"/>
                </a:solidFill>
              </a:rPr>
              <a:t>Review — with AI doing the first read</a:t>
            </a:r>
            <a:endParaRPr lang="en-US" sz="3000" dirty="0"/>
          </a:p>
        </p:txBody>
      </p:sp>
      <p:pic>
        <p:nvPicPr>
          <p:cNvPr id="3" name="Application screenshot" descr="/home/claude/shots/crop-10-review-detail-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2227" y="1188720"/>
            <a:ext cx="8953805" cy="466344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3A4A5A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2732227" y="1188720"/>
            <a:ext cx="8953805" cy="4663440"/>
          </a:xfrm>
          <a:prstGeom prst="rect">
            <a:avLst/>
          </a:prstGeom>
          <a:ln w="9525">
            <a:solidFill>
              <a:srgbClr val="D5DA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362456"/>
            <a:ext cx="256032" cy="256032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75488" y="1316736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1325880"/>
            <a:ext cx="23134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tx2"/>
                </a:solidFill>
              </a:rPr>
              <a:t>Signed submission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15559"/>
                </a:solidFill>
              </a:rPr>
              <a:t>who signed and when — the reviewer sees the sealed record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258568"/>
            <a:ext cx="256032" cy="256032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5488" y="2212848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2221992"/>
            <a:ext cx="23134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tx2"/>
                </a:solidFill>
              </a:rPr>
              <a:t>AI pre-review findings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15559"/>
                </a:solidFill>
              </a:rPr>
              <a:t>each flag cites its procedure and the gap it sees — e.g. a 7.7% sample against a 10% requirement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154680"/>
            <a:ext cx="256032" cy="256032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5488" y="310896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" y="3118104"/>
            <a:ext cx="23134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tx2"/>
                </a:solidFill>
              </a:rPr>
              <a:t>Severity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15559"/>
                </a:solidFill>
              </a:rPr>
              <a:t>High / Medium / Low — the queue sorts by it, worst first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4050792"/>
            <a:ext cx="256032" cy="256032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488" y="4005072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32688" y="4014216"/>
            <a:ext cx="23134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tx2"/>
                </a:solidFill>
              </a:rPr>
              <a:t>Advisory only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15559"/>
                </a:solidFill>
              </a:rPr>
              <a:t>stated on the panel: flags never block, nothing auto-approves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50292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EFF1F2"/>
          </a:solidFill>
          <a:ln w="9525">
            <a:solidFill>
              <a:srgbClr val="D5DAD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4944" y="5138928"/>
            <a:ext cx="2423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6E1414"/>
                </a:solidFill>
              </a:rPr>
              <a:t>The decision: 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5559"/>
                </a:solidFill>
              </a:rPr>
              <a:t>Complete Review — or Return to Analyst with mandatory notes, shown to the analyst as a banner on reopening.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724851" y="1783720"/>
            <a:ext cx="274320" cy="274320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51699" y="173800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925995" y="2506553"/>
            <a:ext cx="274320" cy="274320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852843" y="2460833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925995" y="2800350"/>
            <a:ext cx="274320" cy="274320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852843" y="275463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983980" y="2231410"/>
            <a:ext cx="274320" cy="274320"/>
          </a:xfrm>
          <a:prstGeom prst="ellipse">
            <a:avLst/>
          </a:prstGeom>
          <a:solidFill>
            <a:srgbClr val="6E141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910828" y="218569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5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3A4A5A"/>
                </a:solidFill>
              </a:rPr>
              <a:t>Administration — the quarter at a glance</a:t>
            </a:r>
            <a:endParaRPr lang="en-US" sz="3000" dirty="0"/>
          </a:p>
        </p:txBody>
      </p:sp>
      <p:pic>
        <p:nvPicPr>
          <p:cNvPr id="3" name="Application screenshot" descr="/home/claude/shots/crop-12-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8691327" cy="45720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3A4A5A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48640" y="1188720"/>
            <a:ext cx="8691327" cy="4572000"/>
          </a:xfrm>
          <a:prstGeom prst="rect">
            <a:avLst/>
          </a:prstGeom>
          <a:ln w="9525">
            <a:solidFill>
              <a:srgbClr val="D5DA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18320" y="118872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EFF1F2"/>
          </a:solidFill>
          <a:ln w="9525">
            <a:solidFill>
              <a:srgbClr val="D5DAD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573768" y="12984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1414"/>
                </a:solidFill>
              </a:rPr>
              <a:t>Status matrix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573768" y="1609344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15559"/>
                </a:solidFill>
              </a:rPr>
              <a:t>Every checklist, every LOB, every status — the chasing work, replaced by a glance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9418320" y="274320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EFF1F2"/>
          </a:solidFill>
          <a:ln w="9525">
            <a:solidFill>
              <a:srgbClr val="D5DAD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73768" y="28529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1414"/>
                </a:solidFill>
              </a:rPr>
              <a:t>Generate next quarter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573768" y="3163824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15559"/>
                </a:solidFill>
              </a:rPr>
              <a:t>One action creates Q4’s checklists from the released catalog, pre-assigned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418320" y="429768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EFF1F2"/>
          </a:solidFill>
          <a:ln w="9525">
            <a:solidFill>
              <a:srgbClr val="D5DA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573768" y="44074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1414"/>
                </a:solidFill>
              </a:rPr>
              <a:t>Reassign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573768" y="4718304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15559"/>
                </a:solidFill>
              </a:rPr>
              <a:t>Analyst unavailable at close? Move the checklist; work and history stay intact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5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3A4A5A"/>
                </a:solidFill>
              </a:rPr>
              <a:t>The annual question update, governed</a:t>
            </a:r>
            <a:endParaRPr lang="en-US" sz="3000" dirty="0"/>
          </a:p>
        </p:txBody>
      </p:sp>
      <p:pic>
        <p:nvPicPr>
          <p:cNvPr id="3" name="Application screenshot" descr="/home/claude/shots/crop-13-cat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9558528" cy="44805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3A4A5A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48640" y="1188720"/>
            <a:ext cx="9558528" cy="4480560"/>
          </a:xfrm>
          <a:prstGeom prst="rect">
            <a:avLst/>
          </a:prstGeom>
          <a:ln w="9525">
            <a:solidFill>
              <a:srgbClr val="D5DA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149840" y="1188720"/>
            <a:ext cx="1508760" cy="4480560"/>
          </a:xfrm>
          <a:prstGeom prst="roundRect">
            <a:avLst>
              <a:gd name="adj" fmla="val 4848"/>
            </a:avLst>
          </a:prstGeom>
          <a:solidFill>
            <a:srgbClr val="EFF1F2"/>
          </a:solidFill>
          <a:ln w="9525">
            <a:solidFill>
              <a:srgbClr val="D5DAD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296144" y="1371600"/>
            <a:ext cx="126187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6E1414"/>
                </a:solidFill>
              </a:rPr>
              <a:t>Released = frozen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15559"/>
                </a:solidFill>
              </a:rPr>
              <a:t>Historical checklists stay answerable against exactly the questions they were asked.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6E1414"/>
                </a:solidFill>
              </a:rPr>
              <a:t>Draft = safe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15559"/>
                </a:solidFill>
              </a:rPr>
              <a:t>Audit-driven edits happen in a copy; nothing live changes.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6E1414"/>
                </a:solidFill>
              </a:rPr>
              <a:t>Release = the switch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15559"/>
                </a:solidFill>
              </a:rPr>
              <a:t>A valid-from date; next quarter generates from the new version automatically.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5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3A4A5A"/>
                </a:solidFill>
              </a:rPr>
              <a:t>A quarter in the life of an analyst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527048"/>
            <a:ext cx="475488" cy="475488"/>
          </a:xfrm>
          <a:prstGeom prst="ellipse">
            <a:avLst/>
          </a:prstGeom>
          <a:solidFill>
            <a:srgbClr val="6E141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89888" y="15819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Open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1945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5559"/>
                </a:solidFill>
              </a:rPr>
              <a:t>Your checklist appears in the Worklist when the quarter is generated — reminder e-mails deep-link straight to 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132588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527048"/>
            <a:ext cx="475488" cy="475488"/>
          </a:xfrm>
          <a:prstGeom prst="ellipse">
            <a:avLst/>
          </a:prstGeom>
          <a:solidFill>
            <a:srgbClr val="6E141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5819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21945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5559"/>
                </a:solidFill>
              </a:rPr>
              <a:t>Instructions / Notes panel first — the guidance that used to hide on another tab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93024" y="132588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94192" y="1527048"/>
            <a:ext cx="475488" cy="475488"/>
          </a:xfrm>
          <a:prstGeom prst="ellipse">
            <a:avLst/>
          </a:prstGeom>
          <a:solidFill>
            <a:srgbClr val="6E141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94192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034272" y="15819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Work each procedure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30768" y="21945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5559"/>
                </a:solidFill>
              </a:rPr>
              <a:t>Describe what you performed in the green field, or mark N/A where permitted; attach evidence to the exact procedure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FF1F2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3904488"/>
            <a:ext cx="475488" cy="475488"/>
          </a:xfrm>
          <a:prstGeom prst="ellipse">
            <a:avLst/>
          </a:prstGeom>
          <a:solidFill>
            <a:srgbClr val="6E141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" y="3904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89888" y="39593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Autosave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" y="45720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5559"/>
                </a:solidFill>
              </a:rPr>
              <a:t>Every pause saves the draft — leave and come back anytime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70832" y="370332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FF1F2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3904488"/>
            <a:ext cx="475488" cy="475488"/>
          </a:xfrm>
          <a:prstGeom prst="ellipse">
            <a:avLst/>
          </a:prstGeom>
          <a:solidFill>
            <a:srgbClr val="6E141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0" y="3904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39593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Sign &amp; Submit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08576" y="45720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5559"/>
                </a:solidFill>
              </a:rPr>
              <a:t>Anything incomplete is listed and clickable; when it’s clean, you sign electronically and the record locks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93024" y="370332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FF1F2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94192" y="3904488"/>
            <a:ext cx="475488" cy="475488"/>
          </a:xfrm>
          <a:prstGeom prst="ellipse">
            <a:avLst/>
          </a:prstGeom>
          <a:solidFill>
            <a:srgbClr val="6E141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94192" y="3904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034272" y="39593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If returned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430768" y="45720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5559"/>
                </a:solidFill>
              </a:rPr>
              <a:t>The reviewer’s notes greet you in a banner — fix, resubmit, done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5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3A4A5A"/>
                </a:solidFill>
              </a:rPr>
              <a:t>Reviewer and administrator workflows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F2"/>
                </a:solidFill>
              </a:rPr>
              <a:t>Reviewer — each quarter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56232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0136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chemeClr val="tx2"/>
                </a:solidFill>
              </a:rPr>
              <a:t>Open the Review Queue —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15559"/>
                </a:solidFill>
              </a:rPr>
              <a:t>submissions sorted by AI flags, worst first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971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91693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chemeClr val="tx2"/>
                </a:solidFill>
              </a:rPr>
              <a:t>Open a checklist —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15559"/>
                </a:solidFill>
              </a:rPr>
              <a:t>it moves to Under Review — colleagues see it’s handled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4087368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03250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chemeClr val="tx2"/>
                </a:solidFill>
              </a:rPr>
              <a:t>Check findings &amp; evidence —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15559"/>
                </a:solidFill>
              </a:rPr>
              <a:t>AI directs attention; the record tells the story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038344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5202936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1480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chemeClr val="tx2"/>
                </a:solidFill>
              </a:rPr>
              <a:t>Decide —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15559"/>
                </a:solidFill>
              </a:rPr>
              <a:t>Return with notes (analyst sees them) — or Complete: locked for audit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1188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1414"/>
                </a:solidFill>
              </a:rPr>
              <a:t>Administrator — quarterly &amp; yearly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169164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3952" y="1856232"/>
            <a:ext cx="384048" cy="384048"/>
          </a:xfrm>
          <a:prstGeom prst="ellipse">
            <a:avLst/>
          </a:prstGeom>
          <a:solidFill>
            <a:srgbClr val="6E141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73952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180136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chemeClr val="tx2"/>
                </a:solidFill>
              </a:rPr>
              <a:t>Generate the quarter —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15559"/>
                </a:solidFill>
              </a:rPr>
              <a:t>all checklists created from the released catalog, assigned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2807208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73952" y="2971800"/>
            <a:ext cx="384048" cy="384048"/>
          </a:xfrm>
          <a:prstGeom prst="ellipse">
            <a:avLst/>
          </a:prstGeom>
          <a:solidFill>
            <a:srgbClr val="6E141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73952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291693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chemeClr val="tx2"/>
                </a:solidFill>
              </a:rPr>
              <a:t>Watch the matrix —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15559"/>
                </a:solidFill>
              </a:rPr>
              <a:t>chase by glance, reassign when someone’s out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3922776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73952" y="4087368"/>
            <a:ext cx="384048" cy="384048"/>
          </a:xfrm>
          <a:prstGeom prst="ellipse">
            <a:avLst/>
          </a:prstGeom>
          <a:solidFill>
            <a:srgbClr val="6E141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73952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403250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chemeClr val="tx2"/>
                </a:solidFill>
              </a:rPr>
              <a:t>Yearly: draft the update —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15559"/>
                </a:solidFill>
              </a:rPr>
              <a:t>copy the catalog, apply audit feedback in the draft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5038344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73952" y="5202936"/>
            <a:ext cx="384048" cy="384048"/>
          </a:xfrm>
          <a:prstGeom prst="ellipse">
            <a:avLst/>
          </a:prstGeom>
          <a:solidFill>
            <a:srgbClr val="6E141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73952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995160" y="51480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chemeClr val="tx2"/>
                </a:solidFill>
              </a:rPr>
              <a:t>Release —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15559"/>
                </a:solidFill>
              </a:rPr>
              <a:t>set valid-from; next quarter uses the new version automatically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5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3A4A5A"/>
                </a:solidFill>
              </a:rPr>
              <a:t>Built-in guided tour — the app explains itself</a:t>
            </a:r>
            <a:endParaRPr lang="en-US" sz="3000" dirty="0"/>
          </a:p>
        </p:txBody>
      </p:sp>
      <p:pic>
        <p:nvPicPr>
          <p:cNvPr id="3" name="Application screenshot" descr="/home/claude/shots/crop-03-worklist-tour-ste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234440"/>
            <a:ext cx="7589520" cy="426910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3A4A5A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4069080" y="1234440"/>
            <a:ext cx="7589520" cy="4269105"/>
          </a:xfrm>
          <a:prstGeom prst="rect">
            <a:avLst/>
          </a:prstGeom>
          <a:ln w="9525">
            <a:solidFill>
              <a:srgbClr val="D5DA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23444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2E3B4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2344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Launch with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?guide=1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14600"/>
            <a:ext cx="3246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15559"/>
                </a:solidFill>
              </a:rPr>
              <a:t>A “Guided tour” button (or the G key) walks through the current screen, element by element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15559"/>
                </a:solidFill>
              </a:rPr>
              <a:t>Spotlight + plain-language explanation for every control — the same wording as this walkthrough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15559"/>
                </a:solidFill>
              </a:rPr>
              <a:t>Available on every screen: worklist, checklist, review, admin, catalog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15559"/>
                </a:solidFill>
              </a:rPr>
              <a:t>Zero setup — ideal for stakeholders exploring the demo on their own, and a preview of in-app onboarding for rollout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5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From demo to your MVP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</a:rPr>
              <a:t>Already real today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5740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EE"/>
                </a:solidFill>
              </a:rPr>
              <a:t>The backend is live on the development system: data model, validation, electronic signature, versioned catalog, AI triage pipeline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EE"/>
                </a:solidFill>
              </a:rPr>
              <a:t>This demo’s screens mirror the production design 1:1 — what you accept is what gets built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EE"/>
                </a:solidFill>
              </a:rPr>
              <a:t>Your checklist content is already loaded: the procedures you saw are the real 2021-3Q texts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</a:rPr>
              <a:t>Acceptance unlocks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0574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EE"/>
                </a:solidFill>
              </a:rPr>
              <a:t>Production UI build on SAP Fiori, phase-gated with working software at every step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EE"/>
                </a:solidFill>
              </a:rPr>
              <a:t>Catalog maintenance app for the annual question update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EE"/>
                </a:solidFill>
              </a:rPr>
              <a:t>Integration test on the live service, then UAT with your analysts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10515600" cy="1188720"/>
          </a:xfrm>
          <a:prstGeom prst="roundRect">
            <a:avLst>
              <a:gd name="adj" fmla="val 7692"/>
            </a:avLst>
          </a:prstGeom>
          <a:solidFill>
            <a:srgbClr val="2E3B49"/>
          </a:solidFill>
          <a:ln w="6350">
            <a:solidFill>
              <a:srgbClr val="AEBEC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47091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We need from you: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</a:rPr>
              <a:t>acceptance of this design · the Market Segment checklist templates (to complete the question catalog) · a pilot group of analysts for UAT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MI CSR Demo">
  <a:themeElements>
    <a:clrScheme name="LMI CSR Demo">
      <a:dk1>
        <a:srgbClr val="1A1A1A"/>
      </a:dk1>
      <a:lt1>
        <a:srgbClr val="FFFFFF"/>
      </a:lt1>
      <a:dk2>
        <a:srgbClr val="3A4A5A"/>
      </a:dk2>
      <a:lt2>
        <a:srgbClr val="EFF1F2"/>
      </a:lt2>
      <a:accent1>
        <a:srgbClr val="6E1414"/>
      </a:accent1>
      <a:accent2>
        <a:srgbClr val="3A4A5A"/>
      </a:accent2>
      <a:accent3>
        <a:srgbClr val="0070F2"/>
      </a:accent3>
      <a:accent4>
        <a:srgbClr val="188918"/>
      </a:accent4>
      <a:accent5>
        <a:srgbClr val="E76500"/>
      </a:accent5>
      <a:accent6>
        <a:srgbClr val="D20A0A"/>
      </a:accent6>
      <a:hlink>
        <a:srgbClr val="0070F2"/>
      </a:hlink>
      <a:folHlink>
        <a:srgbClr val="6E1414"/>
      </a:folHlink>
    </a:clrScheme>
    <a:fontScheme name="LMI CSR Dem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CSR Auditing Application — Product Demo &amp; Walkthrough</dc:title>
  <dc:subject>PptxGenJS Presentation</dc:subject>
  <dc:creator>CSR Project</dc:creator>
  <cp:lastModifiedBy>CSR Project</cp:lastModifiedBy>
  <cp:revision>1</cp:revision>
  <dcterms:created xsi:type="dcterms:W3CDTF">2026-10-27T11:52:22Z</dcterms:created>
  <dcterms:modified xsi:type="dcterms:W3CDTF">2026-10-27T11:52:22Z</dcterms:modified>
</cp:coreProperties>
</file>